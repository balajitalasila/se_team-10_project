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7" r:id="rId9"/>
    <p:sldId id="262" r:id="rId10"/>
    <p:sldId id="268" r:id="rId11"/>
    <p:sldId id="269" r:id="rId12"/>
    <p:sldId id="263" r:id="rId13"/>
    <p:sldId id="270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18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52BEE-74DA-4E97-B143-4D3F2BF8349F}" type="datetimeFigureOut">
              <a:rPr lang="en-IN" smtClean="0"/>
              <a:t>20-03-2026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7A3261-81DC-4A21-BF3E-923CD05F44E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6515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4406F-35F1-4F99-85E8-739B22C87CF1}" type="datetime3">
              <a:rPr lang="en-US" smtClean="0"/>
              <a:t>20 March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International Conference on Data Science, Agents, and Artificial Intelligence (ICDSAAI 2025)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317C-1B0B-499E-890D-4A02A62967DC}" type="datetime3">
              <a:rPr lang="en-US" smtClean="0"/>
              <a:t>20 March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International Conference on Data Science, Agents, and Artificial Intelligence (ICDSAAI 2025)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B152-79A6-4AA8-891D-EDB8112AAD07}" type="datetime3">
              <a:rPr lang="en-US" smtClean="0"/>
              <a:t>20 March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International Conference on Data Science, Agents, and Artificial Intelligence (ICDSAAI 2025)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FDA1D-4481-482C-A5F2-AA46168E3A87}" type="datetime3">
              <a:rPr lang="en-US" smtClean="0"/>
              <a:t>20 March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International Conference on Data Science, Agents, and Artificial Intelligence (ICDSAAI 2025)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FF06-9C22-44BF-A13C-28CE2A12366E}" type="datetime3">
              <a:rPr lang="en-US" smtClean="0"/>
              <a:t>20 March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International Conference on Data Science, Agents, and Artificial Intelligence (ICDSAAI 2025)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690B-6E58-4B27-91F0-9025F48FFF19}" type="datetime3">
              <a:rPr lang="en-US" smtClean="0"/>
              <a:t>20 March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International Conference on Data Science, Agents, and Artificial Intelligence (ICDSAAI 2025)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D0F39-723E-47B4-80D4-BA6802467E01}" type="datetime3">
              <a:rPr lang="en-US" smtClean="0"/>
              <a:t>20 March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International Conference on Data Science, Agents, and Artificial Intelligence (ICDSAAI 2025)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4733-E8BE-435A-83AB-E9EDBB3DC6C2}" type="datetime3">
              <a:rPr lang="en-US" smtClean="0"/>
              <a:t>20 March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International Conference on Data Science, Agents, and Artificial Intelligence (ICDSAAI 2025)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FDE6-8F3E-4CAF-B3DC-96114AD8C2A8}" type="datetime3">
              <a:rPr lang="en-US" smtClean="0"/>
              <a:t>20 March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International Conference on Data Science, Agents, and Artificial Intelligence (ICDSAAI 2025)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0E0D-E327-462A-87DF-03E072D3D7A9}" type="datetime3">
              <a:rPr lang="en-US" smtClean="0"/>
              <a:t>20 March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International Conference on Data Science, Agents, and Artificial Intelligence (ICDSAAI 2025)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97A7A-B6A1-423C-9FB2-F409333D7A28}" type="datetime3">
              <a:rPr lang="en-US" smtClean="0"/>
              <a:t>20 March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International Conference on Data Science, Agents, and Artificial Intelligence (ICDSAAI 2025)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86E22-091D-4DEC-B5C0-BCB7DF42CEE0}" type="datetime3">
              <a:rPr lang="en-US" smtClean="0"/>
              <a:t>20 March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International Conference on Data Science, Agents, and Artificial Intelligence (ICDSAAI 2025)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DF485D-C28F-D6E1-6356-8CC92BB3D2C1}"/>
              </a:ext>
            </a:extLst>
          </p:cNvPr>
          <p:cNvSpPr/>
          <p:nvPr/>
        </p:nvSpPr>
        <p:spPr>
          <a:xfrm>
            <a:off x="8153399" y="45534"/>
            <a:ext cx="957942" cy="776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209" y="851981"/>
            <a:ext cx="8543581" cy="983166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0070C0"/>
                </a:solidFill>
              </a:rPr>
              <a:t>2026 </a:t>
            </a:r>
            <a:r>
              <a:rPr sz="3200" b="1" dirty="0">
                <a:solidFill>
                  <a:srgbClr val="0070C0"/>
                </a:solidFill>
              </a:rPr>
              <a:t>International Conference on Data Science, Agents, and Artificial Intelligence (ICDSAAI 202</a:t>
            </a:r>
            <a:r>
              <a:rPr lang="en-IN" sz="3200" b="1" dirty="0">
                <a:solidFill>
                  <a:srgbClr val="0070C0"/>
                </a:solidFill>
              </a:rPr>
              <a:t>6</a:t>
            </a:r>
            <a:r>
              <a:rPr sz="3200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287" y="1854371"/>
            <a:ext cx="8813493" cy="4622175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sz="3400" b="1" dirty="0">
                <a:solidFill>
                  <a:srgbClr val="C00000"/>
                </a:solidFill>
              </a:rPr>
              <a:t>2</a:t>
            </a:r>
            <a:r>
              <a:rPr lang="en-IN" sz="3400" b="1" dirty="0">
                <a:solidFill>
                  <a:srgbClr val="C00000"/>
                </a:solidFill>
              </a:rPr>
              <a:t>6</a:t>
            </a:r>
            <a:r>
              <a:rPr sz="3400" b="1" dirty="0" err="1">
                <a:solidFill>
                  <a:srgbClr val="C00000"/>
                </a:solidFill>
              </a:rPr>
              <a:t>th</a:t>
            </a:r>
            <a:r>
              <a:rPr sz="3400" b="1" dirty="0">
                <a:solidFill>
                  <a:srgbClr val="C00000"/>
                </a:solidFill>
              </a:rPr>
              <a:t>–2</a:t>
            </a:r>
            <a:r>
              <a:rPr lang="en-IN" sz="3400" b="1" dirty="0">
                <a:solidFill>
                  <a:srgbClr val="C00000"/>
                </a:solidFill>
              </a:rPr>
              <a:t>8</a:t>
            </a:r>
            <a:r>
              <a:rPr sz="3400" b="1" dirty="0" err="1">
                <a:solidFill>
                  <a:srgbClr val="C00000"/>
                </a:solidFill>
              </a:rPr>
              <a:t>th</a:t>
            </a:r>
            <a:r>
              <a:rPr sz="3400" b="1" dirty="0">
                <a:solidFill>
                  <a:srgbClr val="C00000"/>
                </a:solidFill>
              </a:rPr>
              <a:t> March 202</a:t>
            </a:r>
            <a:r>
              <a:rPr lang="en-IN" sz="3400" b="1" dirty="0">
                <a:solidFill>
                  <a:srgbClr val="C00000"/>
                </a:solidFill>
              </a:rPr>
              <a:t>6</a:t>
            </a:r>
          </a:p>
          <a:p>
            <a:pPr marL="0" indent="0" algn="ctr">
              <a:buNone/>
            </a:pPr>
            <a:r>
              <a:rPr sz="3400" b="1" dirty="0">
                <a:solidFill>
                  <a:srgbClr val="002060"/>
                </a:solidFill>
                <a:latin typeface="Arial Black" panose="020B0A04020102020204" pitchFamily="34" charset="0"/>
              </a:rPr>
              <a:t>Chennai Institute of Technology, Chennai</a:t>
            </a:r>
            <a:endParaRPr lang="en-IN" sz="34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IN" sz="19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3100" dirty="0"/>
              <a:t>Paper </a:t>
            </a:r>
            <a:r>
              <a:rPr lang="en-IN" sz="3100" dirty="0"/>
              <a:t>ID &amp;</a:t>
            </a:r>
            <a:r>
              <a:rPr sz="3100" dirty="0"/>
              <a:t>Title</a:t>
            </a:r>
            <a:r>
              <a:rPr lang="en-IN" sz="3100" dirty="0"/>
              <a:t>    </a:t>
            </a:r>
            <a:r>
              <a:rPr sz="3100" dirty="0"/>
              <a:t>:</a:t>
            </a:r>
            <a:r>
              <a:rPr lang="en-US" sz="3100" dirty="0"/>
              <a:t> A215 &amp; Real-Time Currency Identification for Visually 					     Impaired Users Using a Lightweight</a:t>
            </a:r>
            <a:r>
              <a:rPr lang="en-IN" sz="3100" dirty="0"/>
              <a:t> </a:t>
            </a:r>
            <a:r>
              <a:rPr lang="en-US" sz="3100" dirty="0"/>
              <a:t>YOLOv5-Based 					     Object Detection System</a:t>
            </a:r>
          </a:p>
          <a:p>
            <a:pPr marL="0" indent="0">
              <a:buNone/>
            </a:pPr>
            <a:r>
              <a:rPr lang="sv-SE" sz="3100" dirty="0"/>
              <a:t>Author(s) 		  : Nethi Sathwik, Talasila Balaji, M. Chandralekha</a:t>
            </a:r>
          </a:p>
          <a:p>
            <a:pPr marL="0" indent="0" algn="just">
              <a:buNone/>
            </a:pPr>
            <a:endParaRPr lang="en-IN" sz="2600" dirty="0"/>
          </a:p>
          <a:p>
            <a:pPr marL="0" indent="0" algn="ctr">
              <a:buNone/>
            </a:pPr>
            <a:r>
              <a:rPr lang="en-IN" sz="3400" b="1" dirty="0">
                <a:solidFill>
                  <a:srgbClr val="0070C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Presenter</a:t>
            </a:r>
          </a:p>
          <a:p>
            <a:pPr marL="0" indent="0" algn="ctr">
              <a:buNone/>
            </a:pPr>
            <a:r>
              <a:rPr lang="en-US" sz="1300" dirty="0"/>
              <a:t> 	</a:t>
            </a:r>
            <a:endParaRPr sz="1300" dirty="0"/>
          </a:p>
          <a:p>
            <a:pPr marL="0" indent="0">
              <a:buNone/>
            </a:pPr>
            <a:r>
              <a:rPr dirty="0"/>
              <a:t>Author</a:t>
            </a:r>
            <a:r>
              <a:rPr lang="en-IN" dirty="0"/>
              <a:t>		         </a:t>
            </a:r>
            <a:r>
              <a:rPr dirty="0"/>
              <a:t>: </a:t>
            </a:r>
            <a:r>
              <a:rPr lang="en-IN" dirty="0"/>
              <a:t>Talasila Balaji</a:t>
            </a:r>
            <a:endParaRPr dirty="0"/>
          </a:p>
          <a:p>
            <a:pPr marL="0" indent="0">
              <a:buNone/>
            </a:pPr>
            <a:r>
              <a:rPr dirty="0"/>
              <a:t>Affiliation</a:t>
            </a:r>
            <a:r>
              <a:rPr lang="en-IN" dirty="0"/>
              <a:t>             </a:t>
            </a:r>
            <a:r>
              <a:rPr dirty="0"/>
              <a:t>:</a:t>
            </a:r>
            <a:r>
              <a:rPr lang="en-US" dirty="0"/>
              <a:t> Department of Computer Science and Engineering 					    Amrita School of Computing</a:t>
            </a:r>
          </a:p>
          <a:p>
            <a:pPr marL="0" indent="0">
              <a:buNone/>
            </a:pPr>
            <a:r>
              <a:rPr lang="en-US" dirty="0"/>
              <a:t>                                 Amrita Vishwa Vidyapeetham</a:t>
            </a:r>
          </a:p>
          <a:p>
            <a:pPr marL="0" indent="0">
              <a:buNone/>
            </a:pPr>
            <a:r>
              <a:rPr lang="en-US" dirty="0"/>
              <a:t>				    Chennai, India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44F3C-3B2E-C164-2A0D-4DCD48E69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DEC547EE-431B-2FC1-D1EF-6D13146A6EEF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7287" y="45991"/>
            <a:ext cx="3627755" cy="786765"/>
          </a:xfrm>
          <a:prstGeom prst="rect">
            <a:avLst/>
          </a:prstGeom>
        </p:spPr>
      </p:pic>
      <p:pic>
        <p:nvPicPr>
          <p:cNvPr id="1026" name="Picture 2" descr="Your profile picture">
            <a:extLst>
              <a:ext uri="{FF2B5EF4-FFF2-40B4-BE49-F238E27FC236}">
                <a16:creationId xmlns:a16="http://schemas.microsoft.com/office/drawing/2014/main" id="{5C8AF09C-3B6D-9C63-B2D0-43E08640B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65766"/>
            <a:ext cx="957942" cy="75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F77F8D-7C8F-32F2-992C-35D2EF9F7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378" y="76745"/>
            <a:ext cx="1886213" cy="600159"/>
          </a:xfrm>
          <a:prstGeom prst="rect">
            <a:avLst/>
          </a:prstGeom>
        </p:spPr>
      </p:pic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69F8ABA6-67A1-E00E-1352-55B65F3D4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1344" y="6476546"/>
            <a:ext cx="6494440" cy="244929"/>
          </a:xfrm>
        </p:spPr>
        <p:txBody>
          <a:bodyPr/>
          <a:lstStyle/>
          <a:p>
            <a:r>
              <a:rPr lang="en-US" dirty="0"/>
              <a:t>2026 International Conference on Data Science, Agents, and Artificial Intelligence (ICDSAAI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632" y="929935"/>
            <a:ext cx="8229600" cy="457199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631" y="1614519"/>
            <a:ext cx="8730343" cy="4616477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b="1" dirty="0"/>
              <a:t>Background</a:t>
            </a:r>
            <a:endParaRPr lang="en-US" dirty="0"/>
          </a:p>
          <a:p>
            <a:pPr algn="just"/>
            <a:r>
              <a:rPr lang="en-US" dirty="0"/>
              <a:t>Identifying currency is essential in everyday financial transactions.</a:t>
            </a:r>
          </a:p>
          <a:p>
            <a:pPr algn="just"/>
            <a:r>
              <a:rPr lang="en-US" dirty="0"/>
              <a:t>Visually impaired individuals face difficulty recognizing currency denominations independently.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/>
              <a:t>Problem Statement</a:t>
            </a:r>
            <a:endParaRPr lang="en-US" dirty="0"/>
          </a:p>
          <a:p>
            <a:pPr algn="just"/>
            <a:r>
              <a:rPr lang="en-US" dirty="0"/>
              <a:t>Existing methods require external assistance or specialized hardware.</a:t>
            </a:r>
          </a:p>
          <a:p>
            <a:pPr algn="just"/>
            <a:r>
              <a:rPr lang="en-US" dirty="0"/>
              <a:t>Traditional techniques are often inaccurate or limited.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/>
              <a:t>Motivation</a:t>
            </a:r>
            <a:endParaRPr lang="en-US" dirty="0"/>
          </a:p>
          <a:p>
            <a:pPr algn="just"/>
            <a:r>
              <a:rPr lang="en-US" dirty="0"/>
              <a:t>Develop an automated system that enables visually impaired users to recognize currency independently.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/>
              <a:t>Significance</a:t>
            </a:r>
            <a:endParaRPr lang="en-US" dirty="0"/>
          </a:p>
          <a:p>
            <a:pPr algn="just"/>
            <a:r>
              <a:rPr lang="en-US" dirty="0"/>
              <a:t>Improves accessibility and independence for visually impaired individuals.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26DB0F-A02A-0C86-E181-486ED3248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6B843981-9FF8-1F4A-AE94-423B5D2604D3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884" y="45991"/>
            <a:ext cx="3775113" cy="75610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F98395C-7296-03FE-7735-3675FE9A4A5D}"/>
              </a:ext>
            </a:extLst>
          </p:cNvPr>
          <p:cNvGrpSpPr/>
          <p:nvPr/>
        </p:nvGrpSpPr>
        <p:grpSpPr>
          <a:xfrm>
            <a:off x="8115299" y="45991"/>
            <a:ext cx="968829" cy="854747"/>
            <a:chOff x="8151171" y="94550"/>
            <a:chExt cx="968829" cy="85474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0FD406D-ECC8-3FD1-D4DF-B8A87F6EBA20}"/>
                </a:ext>
              </a:extLst>
            </p:cNvPr>
            <p:cNvSpPr/>
            <p:nvPr/>
          </p:nvSpPr>
          <p:spPr>
            <a:xfrm>
              <a:off x="8151171" y="94550"/>
              <a:ext cx="968829" cy="85474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4" name="Picture 2" descr="Your profile picture">
              <a:extLst>
                <a:ext uri="{FF2B5EF4-FFF2-40B4-BE49-F238E27FC236}">
                  <a16:creationId xmlns:a16="http://schemas.microsoft.com/office/drawing/2014/main" id="{080665FC-0EC5-AF0E-EDE1-632A388CE3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1171" y="94550"/>
              <a:ext cx="957942" cy="85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BDF2D00-D457-EC35-A26D-315D76084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1344" y="6476546"/>
            <a:ext cx="6494440" cy="244929"/>
          </a:xfrm>
        </p:spPr>
        <p:txBody>
          <a:bodyPr/>
          <a:lstStyle/>
          <a:p>
            <a:r>
              <a:rPr lang="en-US" dirty="0"/>
              <a:t>2026 International Conference on Data Science, Agents, and Artificial Intelligence (ICDSAAI 2026)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8E8CCDA-854A-7BA1-7EE6-0E2709848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378" y="76745"/>
            <a:ext cx="1886213" cy="6001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764" y="947966"/>
            <a:ext cx="8229600" cy="457199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tx2"/>
                </a:solidFill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925" y="1555411"/>
            <a:ext cx="8791575" cy="450248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Existing Approaches</a:t>
            </a:r>
            <a:endParaRPr lang="en-US" dirty="0"/>
          </a:p>
          <a:p>
            <a:r>
              <a:rPr lang="en-US" dirty="0"/>
              <a:t>Image processing based currency recognition systems</a:t>
            </a:r>
          </a:p>
          <a:p>
            <a:r>
              <a:rPr lang="en-US" dirty="0"/>
              <a:t>CNN-based classification models</a:t>
            </a:r>
          </a:p>
          <a:p>
            <a:r>
              <a:rPr lang="en-US" dirty="0"/>
              <a:t>Mobile-based assistive applications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Limitations</a:t>
            </a:r>
            <a:endParaRPr lang="en-US" dirty="0"/>
          </a:p>
          <a:p>
            <a:r>
              <a:rPr lang="en-US" dirty="0"/>
              <a:t>High computational cost</a:t>
            </a:r>
          </a:p>
          <a:p>
            <a:r>
              <a:rPr lang="en-US" dirty="0"/>
              <a:t>Many methods work only with static images</a:t>
            </a:r>
          </a:p>
          <a:p>
            <a:r>
              <a:rPr lang="en-US" dirty="0"/>
              <a:t>Some systems require additional hardware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Research Gap</a:t>
            </a:r>
            <a:endParaRPr lang="en-US" dirty="0"/>
          </a:p>
          <a:p>
            <a:r>
              <a:rPr lang="en-US" dirty="0"/>
              <a:t>Lack of lightweight real-time detection systems suitable for edge devices.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A6010F-D0C4-8A98-0D02-A569E8112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1396CFB8-C427-7BDE-75D8-DEA83FFE530C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1B086D8-8A0E-0019-04C3-BF2CF3A1882C}"/>
              </a:ext>
            </a:extLst>
          </p:cNvPr>
          <p:cNvGrpSpPr/>
          <p:nvPr/>
        </p:nvGrpSpPr>
        <p:grpSpPr>
          <a:xfrm>
            <a:off x="8115299" y="45991"/>
            <a:ext cx="968829" cy="854747"/>
            <a:chOff x="8151171" y="94550"/>
            <a:chExt cx="968829" cy="85474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6CDF4B8-2A17-F067-4898-3563AFE4FD8D}"/>
                </a:ext>
              </a:extLst>
            </p:cNvPr>
            <p:cNvSpPr/>
            <p:nvPr/>
          </p:nvSpPr>
          <p:spPr>
            <a:xfrm>
              <a:off x="8151171" y="94550"/>
              <a:ext cx="968829" cy="85474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1" name="Picture 2" descr="Your profile picture">
              <a:extLst>
                <a:ext uri="{FF2B5EF4-FFF2-40B4-BE49-F238E27FC236}">
                  <a16:creationId xmlns:a16="http://schemas.microsoft.com/office/drawing/2014/main" id="{A81A276B-0F82-2EFE-84C9-C637595981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1171" y="94550"/>
              <a:ext cx="957942" cy="85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65C1E4DF-763D-9020-41A2-D9690D8B8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378" y="76745"/>
            <a:ext cx="1886213" cy="600159"/>
          </a:xfrm>
          <a:prstGeom prst="rect">
            <a:avLst/>
          </a:prstGeom>
        </p:spPr>
      </p:pic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E741B5E4-4FE4-D4A9-C7F2-1ECEEFBCD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1344" y="6476546"/>
            <a:ext cx="6494440" cy="244929"/>
          </a:xfrm>
        </p:spPr>
        <p:txBody>
          <a:bodyPr/>
          <a:lstStyle/>
          <a:p>
            <a:r>
              <a:rPr lang="en-US" dirty="0"/>
              <a:t>2026 International Conference on Data Science, Agents, and Artificial Intelligence (ICDSAAI 2026)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30108"/>
            <a:ext cx="8229600" cy="457199"/>
          </a:xfrm>
        </p:spPr>
        <p:txBody>
          <a:bodyPr>
            <a:normAutofit fontScale="90000"/>
          </a:bodyPr>
          <a:lstStyle/>
          <a:p>
            <a:r>
              <a:rPr sz="4000" b="1" dirty="0">
                <a:solidFill>
                  <a:schemeClr val="tx2"/>
                </a:solidFill>
              </a:rPr>
              <a:t>Research</a:t>
            </a:r>
            <a:r>
              <a:rPr dirty="0"/>
              <a:t> </a:t>
            </a:r>
            <a:r>
              <a:rPr sz="4000" b="1" dirty="0">
                <a:solidFill>
                  <a:schemeClr val="tx2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49" y="1522474"/>
            <a:ext cx="8829675" cy="483387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Research Objectives</a:t>
            </a:r>
          </a:p>
          <a:p>
            <a:pPr marL="0" indent="0" algn="just">
              <a:buNone/>
            </a:pPr>
            <a:r>
              <a:rPr lang="en-US" dirty="0"/>
              <a:t>• Develop a real-time currency identification system to assist visually impaired users in recognizing Indian currency notes.</a:t>
            </a:r>
          </a:p>
          <a:p>
            <a:pPr marL="0" indent="0" algn="just">
              <a:buNone/>
            </a:pPr>
            <a:r>
              <a:rPr lang="en-US" dirty="0"/>
              <a:t>• Implement a lightweight object detection model (YOLOv5 Nano) suitable for real-time operation on resource-constrained devices.</a:t>
            </a:r>
          </a:p>
          <a:p>
            <a:pPr marL="0" indent="0" algn="just">
              <a:buNone/>
            </a:pPr>
            <a:r>
              <a:rPr lang="en-US" dirty="0"/>
              <a:t>• Accurately detect and classify different Indian currency denominations from live camera input.</a:t>
            </a:r>
          </a:p>
          <a:p>
            <a:pPr marL="0" indent="0" algn="just">
              <a:buNone/>
            </a:pPr>
            <a:r>
              <a:rPr lang="en-US" dirty="0"/>
              <a:t>• Provide audio feedback to inform users about the detected currency denomination.</a:t>
            </a:r>
          </a:p>
          <a:p>
            <a:pPr marL="0" indent="0" algn="just">
              <a:buNone/>
            </a:pPr>
            <a:r>
              <a:rPr lang="en-US" dirty="0"/>
              <a:t>• Evaluate the system using performance metrics such as Precision, Recall, mAP, F1-score, and inference time.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Hypothesis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• A lightweight deep learning model such as YOLOv5 Nano can achieve high accuracy and low inference latency, making it suitable for real-time assistive currency recognition systems.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6A80E8-B123-4403-480B-C2B4916DD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8C503C7A-02DF-DACA-AC2A-C1C31DCA95D8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8DBE683-72A3-5A47-C2D5-A36668C84E23}"/>
              </a:ext>
            </a:extLst>
          </p:cNvPr>
          <p:cNvGrpSpPr/>
          <p:nvPr/>
        </p:nvGrpSpPr>
        <p:grpSpPr>
          <a:xfrm>
            <a:off x="8115299" y="45991"/>
            <a:ext cx="968829" cy="854747"/>
            <a:chOff x="8151171" y="94550"/>
            <a:chExt cx="968829" cy="85474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C07F9F3-2F86-A1E1-7766-69837A9FDFB4}"/>
                </a:ext>
              </a:extLst>
            </p:cNvPr>
            <p:cNvSpPr/>
            <p:nvPr/>
          </p:nvSpPr>
          <p:spPr>
            <a:xfrm>
              <a:off x="8151171" y="94550"/>
              <a:ext cx="968829" cy="85474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1" name="Picture 2" descr="Your profile picture">
              <a:extLst>
                <a:ext uri="{FF2B5EF4-FFF2-40B4-BE49-F238E27FC236}">
                  <a16:creationId xmlns:a16="http://schemas.microsoft.com/office/drawing/2014/main" id="{3AEC320B-FDA1-403A-F956-968972206D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1171" y="94550"/>
              <a:ext cx="957942" cy="85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1886E71-FD12-FBA1-77B1-B5AB0620C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378" y="76745"/>
            <a:ext cx="1886213" cy="600159"/>
          </a:xfrm>
          <a:prstGeom prst="rect">
            <a:avLst/>
          </a:prstGeom>
        </p:spPr>
      </p:pic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1AFCAB52-4F53-008B-9F4B-DDF42A207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1344" y="6476546"/>
            <a:ext cx="6494440" cy="244929"/>
          </a:xfrm>
        </p:spPr>
        <p:txBody>
          <a:bodyPr/>
          <a:lstStyle/>
          <a:p>
            <a:r>
              <a:rPr lang="en-US" dirty="0"/>
              <a:t>2026 International Conference on Data Science, Agents, and Artificial Intelligence (ICDSAAI 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43091"/>
            <a:ext cx="8229600" cy="457199"/>
          </a:xfrm>
        </p:spPr>
        <p:txBody>
          <a:bodyPr>
            <a:noAutofit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025" y="1545661"/>
            <a:ext cx="8763000" cy="483586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Dataset Description</a:t>
            </a:r>
            <a:endParaRPr lang="en-US" dirty="0"/>
          </a:p>
          <a:p>
            <a:pPr algn="just"/>
            <a:r>
              <a:rPr lang="en-US" dirty="0"/>
              <a:t>Indian currency dataset collected from Kaggle.</a:t>
            </a:r>
          </a:p>
          <a:p>
            <a:pPr algn="just"/>
            <a:r>
              <a:rPr lang="en-US" dirty="0"/>
              <a:t>Contains 11 classes of currency notes (old and new denominations).</a:t>
            </a:r>
          </a:p>
          <a:p>
            <a:pPr algn="just"/>
            <a:r>
              <a:rPr lang="en-US" dirty="0"/>
              <a:t>Images were manually annotated with bounding boxes for object detection.</a:t>
            </a:r>
          </a:p>
          <a:p>
            <a:pPr algn="just"/>
            <a:r>
              <a:rPr lang="en-US" dirty="0"/>
              <a:t>Dataset split into 80% training and 20% validation.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Proposed Approach</a:t>
            </a:r>
            <a:endParaRPr lang="en-US" dirty="0"/>
          </a:p>
          <a:p>
            <a:pPr algn="just"/>
            <a:r>
              <a:rPr lang="en-US" dirty="0"/>
              <a:t>Implemented a YOLOv5-based real-time object detection system.</a:t>
            </a:r>
          </a:p>
          <a:p>
            <a:pPr algn="just"/>
            <a:r>
              <a:rPr lang="en-US" dirty="0"/>
              <a:t>Compared three models: YOLOv5 Nano, YOLOv5 Small, and YOLOv5 Medium.</a:t>
            </a:r>
          </a:p>
          <a:p>
            <a:pPr algn="just"/>
            <a:r>
              <a:rPr lang="en-US" dirty="0"/>
              <a:t>YOLOv5 Nano was selected due to its lightweight architecture and faster inference suitable for edge devices.</a:t>
            </a:r>
          </a:p>
          <a:p>
            <a:pPr algn="just"/>
            <a:r>
              <a:rPr lang="en-US" dirty="0"/>
              <a:t>System detects currency notes from live camera input and identifies the denomination.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8A2C0-3718-4352-4F78-4948A271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CB4AE54D-E8E5-61AD-CBD2-4F23B3F47366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FD058C8-3C11-0F30-A204-AB88943BC9E9}"/>
              </a:ext>
            </a:extLst>
          </p:cNvPr>
          <p:cNvGrpSpPr/>
          <p:nvPr/>
        </p:nvGrpSpPr>
        <p:grpSpPr>
          <a:xfrm>
            <a:off x="8115299" y="45991"/>
            <a:ext cx="968829" cy="854747"/>
            <a:chOff x="8151171" y="94550"/>
            <a:chExt cx="968829" cy="8547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7A16822-44FD-1068-877C-2FE7A55E7BB6}"/>
                </a:ext>
              </a:extLst>
            </p:cNvPr>
            <p:cNvSpPr/>
            <p:nvPr/>
          </p:nvSpPr>
          <p:spPr>
            <a:xfrm>
              <a:off x="8151171" y="94550"/>
              <a:ext cx="968829" cy="85474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9" name="Picture 2" descr="Your profile picture">
              <a:extLst>
                <a:ext uri="{FF2B5EF4-FFF2-40B4-BE49-F238E27FC236}">
                  <a16:creationId xmlns:a16="http://schemas.microsoft.com/office/drawing/2014/main" id="{5AD43C22-AEAB-6E69-C5E2-8E23EF6FC8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1171" y="94550"/>
              <a:ext cx="957942" cy="85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7C0FAA5-2A9B-21B9-536F-F291CB652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378" y="76745"/>
            <a:ext cx="1886213" cy="600159"/>
          </a:xfrm>
          <a:prstGeom prst="rect">
            <a:avLst/>
          </a:prstGeom>
        </p:spPr>
      </p:pic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FB8CB206-01B6-D698-991F-70BF8B03B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1344" y="6476546"/>
            <a:ext cx="6494440" cy="244929"/>
          </a:xfrm>
        </p:spPr>
        <p:txBody>
          <a:bodyPr/>
          <a:lstStyle/>
          <a:p>
            <a:r>
              <a:rPr lang="en-US" dirty="0"/>
              <a:t>2026 International Conference on Data Science, Agents, and Artificial Intelligence (ICDSAAI 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8EFC4-4469-A341-B85D-9EA55A064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4121E-7DA2-0CB1-298A-430902D2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43091"/>
            <a:ext cx="8229600" cy="457199"/>
          </a:xfrm>
        </p:spPr>
        <p:txBody>
          <a:bodyPr>
            <a:noAutofit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06547-287C-0D10-2D75-83F35AB04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4" y="2246769"/>
            <a:ext cx="8772525" cy="263003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Tools, Technologies, and Algorithms</a:t>
            </a:r>
            <a:endParaRPr lang="en-US" dirty="0"/>
          </a:p>
          <a:p>
            <a:r>
              <a:rPr lang="en-US" b="1" dirty="0"/>
              <a:t>Programming Language: </a:t>
            </a:r>
            <a:r>
              <a:rPr lang="en-US" dirty="0"/>
              <a:t>Python</a:t>
            </a:r>
          </a:p>
          <a:p>
            <a:r>
              <a:rPr lang="en-US" b="1" dirty="0"/>
              <a:t>Deep Learning Framework: </a:t>
            </a:r>
            <a:r>
              <a:rPr lang="en-US" dirty="0"/>
              <a:t>PyTorch</a:t>
            </a:r>
          </a:p>
          <a:p>
            <a:r>
              <a:rPr lang="en-US" b="1" dirty="0"/>
              <a:t>Object Detection Model: </a:t>
            </a:r>
            <a:r>
              <a:rPr lang="en-US" dirty="0"/>
              <a:t>YOLOv5(Nano, Small, Medium)</a:t>
            </a:r>
          </a:p>
          <a:p>
            <a:r>
              <a:rPr lang="en-US" b="1" dirty="0"/>
              <a:t>Image Processing: </a:t>
            </a:r>
            <a:r>
              <a:rPr lang="en-US" dirty="0"/>
              <a:t>OpenCV</a:t>
            </a:r>
          </a:p>
          <a:p>
            <a:r>
              <a:rPr lang="en-US" b="1" dirty="0"/>
              <a:t>Annotation Tool: </a:t>
            </a:r>
            <a:r>
              <a:rPr lang="en-US" dirty="0"/>
              <a:t>LabelImg</a:t>
            </a:r>
          </a:p>
          <a:p>
            <a:r>
              <a:rPr lang="en-US" b="1" dirty="0"/>
              <a:t>Audio Feedback: </a:t>
            </a:r>
            <a:r>
              <a:rPr lang="en-US" dirty="0"/>
              <a:t>Text-to-Speech module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C777B-4163-4D2B-F0C9-A18C722D4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DCD0F297-E14C-1611-E761-3B2109BBB7EE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2BBB5D9-0F9F-2F2B-D425-46846BCE0654}"/>
              </a:ext>
            </a:extLst>
          </p:cNvPr>
          <p:cNvGrpSpPr/>
          <p:nvPr/>
        </p:nvGrpSpPr>
        <p:grpSpPr>
          <a:xfrm>
            <a:off x="8115299" y="45991"/>
            <a:ext cx="968829" cy="854747"/>
            <a:chOff x="8151171" y="94550"/>
            <a:chExt cx="968829" cy="8547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1653D0-920E-D125-05EE-75D62CAFDDBF}"/>
                </a:ext>
              </a:extLst>
            </p:cNvPr>
            <p:cNvSpPr/>
            <p:nvPr/>
          </p:nvSpPr>
          <p:spPr>
            <a:xfrm>
              <a:off x="8151171" y="94550"/>
              <a:ext cx="968829" cy="85474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9" name="Picture 2" descr="Your profile picture">
              <a:extLst>
                <a:ext uri="{FF2B5EF4-FFF2-40B4-BE49-F238E27FC236}">
                  <a16:creationId xmlns:a16="http://schemas.microsoft.com/office/drawing/2014/main" id="{22F206AD-C868-BFF3-8D04-55A1B82D7C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1171" y="94550"/>
              <a:ext cx="957942" cy="85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1B1078B-3A20-2D6D-5F69-EB17DC359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378" y="76745"/>
            <a:ext cx="1886213" cy="600159"/>
          </a:xfrm>
          <a:prstGeom prst="rect">
            <a:avLst/>
          </a:prstGeom>
        </p:spPr>
      </p:pic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19301056-BB42-5798-F797-AFE33DA0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1344" y="6476546"/>
            <a:ext cx="6494440" cy="244929"/>
          </a:xfrm>
        </p:spPr>
        <p:txBody>
          <a:bodyPr/>
          <a:lstStyle/>
          <a:p>
            <a:r>
              <a:rPr lang="en-US" dirty="0"/>
              <a:t>2026 International Conference on Data Science, Agents, and Artificial Intelligence (ICDSAAI 2026)</a:t>
            </a:r>
          </a:p>
        </p:txBody>
      </p:sp>
    </p:spTree>
    <p:extLst>
      <p:ext uri="{BB962C8B-B14F-4D97-AF65-F5344CB8AC3E}">
        <p14:creationId xmlns:p14="http://schemas.microsoft.com/office/powerpoint/2010/main" val="2393316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764" y="938395"/>
            <a:ext cx="8229600" cy="607105"/>
          </a:xfrm>
        </p:spPr>
        <p:txBody>
          <a:bodyPr>
            <a:normAutofit fontScale="90000"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Implementation Details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7FA581-808A-0B72-EEFE-103FED2D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CA9418BA-4AE6-5853-1F98-760EC6F9353C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2C186B5-7100-BE29-05D7-47D610B26BFC}"/>
              </a:ext>
            </a:extLst>
          </p:cNvPr>
          <p:cNvGrpSpPr/>
          <p:nvPr/>
        </p:nvGrpSpPr>
        <p:grpSpPr>
          <a:xfrm>
            <a:off x="8115299" y="45991"/>
            <a:ext cx="968829" cy="854747"/>
            <a:chOff x="8151171" y="94550"/>
            <a:chExt cx="968829" cy="8547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2B77907-7EA2-493B-114E-3D36AC63D2DC}"/>
                </a:ext>
              </a:extLst>
            </p:cNvPr>
            <p:cNvSpPr/>
            <p:nvPr/>
          </p:nvSpPr>
          <p:spPr>
            <a:xfrm>
              <a:off x="8151171" y="94550"/>
              <a:ext cx="968829" cy="85474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9" name="Picture 2" descr="Your profile picture">
              <a:extLst>
                <a:ext uri="{FF2B5EF4-FFF2-40B4-BE49-F238E27FC236}">
                  <a16:creationId xmlns:a16="http://schemas.microsoft.com/office/drawing/2014/main" id="{B0E84701-AB1E-3BB7-EF6C-7C4FD6D579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1171" y="94550"/>
              <a:ext cx="957942" cy="85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C0661C1B-8489-90E3-C4CA-BD99F1091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0"/>
            <a:ext cx="1886213" cy="600159"/>
          </a:xfrm>
          <a:prstGeom prst="rect">
            <a:avLst/>
          </a:prstGeom>
        </p:spPr>
      </p:pic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FA7E75E3-07F0-B5CF-9AA6-679D8E2D5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1344" y="6476546"/>
            <a:ext cx="6494440" cy="244929"/>
          </a:xfrm>
        </p:spPr>
        <p:txBody>
          <a:bodyPr/>
          <a:lstStyle/>
          <a:p>
            <a:r>
              <a:rPr lang="en-US" dirty="0"/>
              <a:t>2026 International Conference on Data Science, Agents, and Artificial Intelligence (ICDSAAI 2026)</a:t>
            </a:r>
          </a:p>
        </p:txBody>
      </p:sp>
      <p:pic>
        <p:nvPicPr>
          <p:cNvPr id="10" name="Image 3">
            <a:extLst>
              <a:ext uri="{FF2B5EF4-FFF2-40B4-BE49-F238E27FC236}">
                <a16:creationId xmlns:a16="http://schemas.microsoft.com/office/drawing/2014/main" id="{0F694F06-2BFA-AFB8-B3EE-FC86745C0ABB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66899" y="1954712"/>
            <a:ext cx="5991225" cy="38722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EAF755-6291-8BA5-A4DF-ADFBBCB4D7C7}"/>
              </a:ext>
            </a:extLst>
          </p:cNvPr>
          <p:cNvSpPr txBox="1"/>
          <p:nvPr/>
        </p:nvSpPr>
        <p:spPr>
          <a:xfrm>
            <a:off x="4267200" y="6019800"/>
            <a:ext cx="139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 Flow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3E1E2-6001-407A-3710-990DF17B5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3F57-1947-D1C0-3B65-8EB44ACAD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50760"/>
            <a:ext cx="8229600" cy="607105"/>
          </a:xfrm>
        </p:spPr>
        <p:txBody>
          <a:bodyPr>
            <a:normAutofit fontScale="90000"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34F34-3C1F-29F4-FA1A-C6E67CB75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25" y="1710905"/>
            <a:ext cx="8734425" cy="4196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Experimental Setup and Configuration</a:t>
            </a:r>
          </a:p>
          <a:p>
            <a:pPr marL="0" indent="0">
              <a:buNone/>
            </a:pPr>
            <a:endParaRPr lang="en-IN" sz="1700" b="1" dirty="0"/>
          </a:p>
          <a:p>
            <a:pPr algn="just"/>
            <a:r>
              <a:rPr lang="en-IN" sz="2200" b="1" dirty="0"/>
              <a:t>Programming Language:</a:t>
            </a:r>
            <a:r>
              <a:rPr lang="en-IN" sz="2200" dirty="0"/>
              <a:t> Python</a:t>
            </a:r>
          </a:p>
          <a:p>
            <a:pPr algn="just"/>
            <a:r>
              <a:rPr lang="en-IN" sz="2200" b="1" dirty="0"/>
              <a:t>Deep Learning Framework:</a:t>
            </a:r>
            <a:r>
              <a:rPr lang="en-IN" sz="2200" dirty="0"/>
              <a:t> PyTorch</a:t>
            </a:r>
          </a:p>
          <a:p>
            <a:pPr algn="just"/>
            <a:r>
              <a:rPr lang="en-IN" sz="2200" b="1" dirty="0"/>
              <a:t>Object Detection Model:</a:t>
            </a:r>
            <a:r>
              <a:rPr lang="en-IN" sz="2200" dirty="0"/>
              <a:t> YOLOv5 Nano, YOLOv5 Small, YOLOv5 Medium. </a:t>
            </a:r>
          </a:p>
          <a:p>
            <a:pPr algn="just"/>
            <a:r>
              <a:rPr lang="en-IN" sz="2200" b="1" dirty="0"/>
              <a:t>Image Resolution:</a:t>
            </a:r>
            <a:r>
              <a:rPr lang="en-IN" sz="2200" dirty="0"/>
              <a:t> 640 × 640 pixels</a:t>
            </a:r>
          </a:p>
          <a:p>
            <a:pPr algn="just"/>
            <a:r>
              <a:rPr lang="en-IN" sz="2200" b="1" dirty="0"/>
              <a:t>Training Method:</a:t>
            </a:r>
            <a:r>
              <a:rPr lang="en-IN" sz="2200" dirty="0"/>
              <a:t> Transfer learning using pretrained YOLOv5 weights</a:t>
            </a:r>
          </a:p>
          <a:p>
            <a:pPr algn="just"/>
            <a:r>
              <a:rPr lang="en-IN" sz="2200" b="1" dirty="0"/>
              <a:t>Dataset Split:</a:t>
            </a:r>
            <a:r>
              <a:rPr lang="en-IN" sz="2200" dirty="0"/>
              <a:t> 80% training and 20% validation</a:t>
            </a:r>
          </a:p>
          <a:p>
            <a:pPr algn="just"/>
            <a:r>
              <a:rPr lang="en-IN" sz="2200" b="1" dirty="0"/>
              <a:t>Evaluation Metrics:</a:t>
            </a:r>
            <a:r>
              <a:rPr lang="en-IN" sz="2200" dirty="0"/>
              <a:t> Precision, Recall, mAP, F1-score, and Inference Time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0FE03-19C5-0264-3289-C7BD0E827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8439EA77-E9AE-A9C9-F60D-793A6BAF425F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BA9D94A-2DCB-1C77-9AB4-0276961EE473}"/>
              </a:ext>
            </a:extLst>
          </p:cNvPr>
          <p:cNvGrpSpPr/>
          <p:nvPr/>
        </p:nvGrpSpPr>
        <p:grpSpPr>
          <a:xfrm>
            <a:off x="8115299" y="45991"/>
            <a:ext cx="968829" cy="854747"/>
            <a:chOff x="8151171" y="94550"/>
            <a:chExt cx="968829" cy="8547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1E45366-7606-CE6C-4410-BAEFB99CBD80}"/>
                </a:ext>
              </a:extLst>
            </p:cNvPr>
            <p:cNvSpPr/>
            <p:nvPr/>
          </p:nvSpPr>
          <p:spPr>
            <a:xfrm>
              <a:off x="8151171" y="94550"/>
              <a:ext cx="968829" cy="85474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9" name="Picture 2" descr="Your profile picture">
              <a:extLst>
                <a:ext uri="{FF2B5EF4-FFF2-40B4-BE49-F238E27FC236}">
                  <a16:creationId xmlns:a16="http://schemas.microsoft.com/office/drawing/2014/main" id="{619EE691-9AC8-1779-A550-EB39DF841B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1171" y="94550"/>
              <a:ext cx="957942" cy="85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F96C7C9E-1AA6-31F1-44C5-A460C3274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0"/>
            <a:ext cx="1886213" cy="600159"/>
          </a:xfrm>
          <a:prstGeom prst="rect">
            <a:avLst/>
          </a:prstGeom>
        </p:spPr>
      </p:pic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117AAD32-0198-C1A3-6FBF-D60262EDB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1344" y="6476546"/>
            <a:ext cx="6494440" cy="244929"/>
          </a:xfrm>
        </p:spPr>
        <p:txBody>
          <a:bodyPr/>
          <a:lstStyle/>
          <a:p>
            <a:r>
              <a:rPr lang="en-US" dirty="0"/>
              <a:t>2026 International Conference on Data Science, Agents, and Artificial Intelligence (ICDSAAI 2026)</a:t>
            </a:r>
          </a:p>
        </p:txBody>
      </p:sp>
    </p:spTree>
    <p:extLst>
      <p:ext uri="{BB962C8B-B14F-4D97-AF65-F5344CB8AC3E}">
        <p14:creationId xmlns:p14="http://schemas.microsoft.com/office/powerpoint/2010/main" val="1949202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885" y="940000"/>
            <a:ext cx="8229600" cy="606711"/>
          </a:xfrm>
        </p:spPr>
        <p:txBody>
          <a:bodyPr>
            <a:normAutofit fontScale="90000"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224" y="2054118"/>
            <a:ext cx="8620125" cy="328981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b="1" dirty="0"/>
              <a:t>Key Findings</a:t>
            </a:r>
          </a:p>
          <a:p>
            <a:pPr marL="0" indent="0">
              <a:buNone/>
            </a:pPr>
            <a:endParaRPr lang="en-US" sz="2600" b="1" dirty="0"/>
          </a:p>
          <a:p>
            <a:pPr marL="0" indent="0" algn="just">
              <a:buNone/>
            </a:pPr>
            <a:r>
              <a:rPr lang="en-US" dirty="0"/>
              <a:t>• The YOLOv5 Nano model achieved high detection performance for identifying Indian currency notes.</a:t>
            </a:r>
          </a:p>
          <a:p>
            <a:pPr marL="0" indent="0" algn="just">
              <a:buNone/>
            </a:pPr>
            <a:r>
              <a:rPr lang="en-US" dirty="0"/>
              <a:t>• The system achieved mAP@0.5 of 0.995, indicating highly accurate object detection.</a:t>
            </a:r>
          </a:p>
          <a:p>
            <a:pPr marL="0" indent="0" algn="just">
              <a:buNone/>
            </a:pPr>
            <a:r>
              <a:rPr lang="en-US" dirty="0"/>
              <a:t>• Precision and Recall values of 0.87 show balanced detection performance.</a:t>
            </a:r>
          </a:p>
          <a:p>
            <a:pPr marL="0" indent="0" algn="just">
              <a:buNone/>
            </a:pPr>
            <a:r>
              <a:rPr lang="en-US" dirty="0"/>
              <a:t>• The model achieved real-time inference with only 15 ms latency, making it suitable for edge devices.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AF4E0-6B08-1428-66FB-1B31E1E1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94FB0F2E-3076-7124-FB04-B242969ADBBC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ECC647F-0448-CFEF-64A3-EBD2B8C44278}"/>
              </a:ext>
            </a:extLst>
          </p:cNvPr>
          <p:cNvGrpSpPr/>
          <p:nvPr/>
        </p:nvGrpSpPr>
        <p:grpSpPr>
          <a:xfrm>
            <a:off x="8115299" y="45991"/>
            <a:ext cx="968829" cy="854747"/>
            <a:chOff x="8151171" y="94550"/>
            <a:chExt cx="968829" cy="8547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02416CE-6F9A-3A4E-D303-C6E9CE50BAA9}"/>
                </a:ext>
              </a:extLst>
            </p:cNvPr>
            <p:cNvSpPr/>
            <p:nvPr/>
          </p:nvSpPr>
          <p:spPr>
            <a:xfrm>
              <a:off x="8151171" y="94550"/>
              <a:ext cx="968829" cy="85474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9" name="Picture 2" descr="Your profile picture">
              <a:extLst>
                <a:ext uri="{FF2B5EF4-FFF2-40B4-BE49-F238E27FC236}">
                  <a16:creationId xmlns:a16="http://schemas.microsoft.com/office/drawing/2014/main" id="{8C1CA5C8-06F4-A3D6-730A-EA605294E8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1171" y="94550"/>
              <a:ext cx="957942" cy="85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99A2D354-3152-AEBE-82E4-C8673396E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685" y="58866"/>
            <a:ext cx="1886213" cy="600159"/>
          </a:xfrm>
          <a:prstGeom prst="rect">
            <a:avLst/>
          </a:prstGeom>
        </p:spPr>
      </p:pic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4BB55C3A-1244-18E6-206A-06B95ED3F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1344" y="6476546"/>
            <a:ext cx="6494440" cy="244929"/>
          </a:xfrm>
        </p:spPr>
        <p:txBody>
          <a:bodyPr/>
          <a:lstStyle/>
          <a:p>
            <a:r>
              <a:rPr lang="en-US" dirty="0"/>
              <a:t>2026 International Conference on Data Science, Agents, and Artificial Intelligence (ICDSAAI 2026)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EA1E3-9B1B-6D77-2594-F74CE6B7E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98F7-0BAC-1FA9-C194-83D65E833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85" y="940000"/>
            <a:ext cx="8229600" cy="606711"/>
          </a:xfrm>
        </p:spPr>
        <p:txBody>
          <a:bodyPr>
            <a:normAutofit fontScale="90000"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1E7EC-3E7D-06AC-6AD6-D84E300CD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" y="1589906"/>
            <a:ext cx="8724899" cy="2115216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600" b="1" dirty="0"/>
              <a:t>Comparison with Existing Models</a:t>
            </a:r>
          </a:p>
          <a:p>
            <a:pPr marL="0" indent="0" algn="just">
              <a:buNone/>
            </a:pPr>
            <a:endParaRPr lang="en-US" sz="1500" b="1" dirty="0"/>
          </a:p>
          <a:p>
            <a:pPr marL="0" indent="0" algn="just">
              <a:buNone/>
            </a:pPr>
            <a:r>
              <a:rPr lang="en-US" sz="1900" dirty="0"/>
              <a:t>• Three YOLOv5 variants were evaluated: YOLOv5 Nano, YOLOv5 Small, and YOLOv5 Medium.</a:t>
            </a:r>
          </a:p>
          <a:p>
            <a:pPr marL="0" indent="0" algn="just">
              <a:buNone/>
            </a:pPr>
            <a:r>
              <a:rPr lang="en-US" sz="1900" dirty="0"/>
              <a:t>• Larger models slightly improved accuracy but required higher computational resources.</a:t>
            </a:r>
          </a:p>
          <a:p>
            <a:pPr marL="0" indent="0" algn="just">
              <a:buNone/>
            </a:pPr>
            <a:r>
              <a:rPr lang="en-US" sz="1900" dirty="0"/>
              <a:t>• YOLOv5 Nano provided the best trade-off between speed and accuracy for real-time applications.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B956C-500E-5308-CAC5-D9B310599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9D22D7C7-7BB6-2844-938C-00B079BC6C0A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A785844-6D6E-C01E-D8E9-93A67BBF984C}"/>
              </a:ext>
            </a:extLst>
          </p:cNvPr>
          <p:cNvGrpSpPr/>
          <p:nvPr/>
        </p:nvGrpSpPr>
        <p:grpSpPr>
          <a:xfrm>
            <a:off x="8115299" y="45991"/>
            <a:ext cx="968829" cy="854747"/>
            <a:chOff x="8151171" y="94550"/>
            <a:chExt cx="968829" cy="8547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51C179-DD4E-A7AC-3B7E-1CCBE22BEDFC}"/>
                </a:ext>
              </a:extLst>
            </p:cNvPr>
            <p:cNvSpPr/>
            <p:nvPr/>
          </p:nvSpPr>
          <p:spPr>
            <a:xfrm>
              <a:off x="8151171" y="94550"/>
              <a:ext cx="968829" cy="85474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9" name="Picture 2" descr="Your profile picture">
              <a:extLst>
                <a:ext uri="{FF2B5EF4-FFF2-40B4-BE49-F238E27FC236}">
                  <a16:creationId xmlns:a16="http://schemas.microsoft.com/office/drawing/2014/main" id="{5B49093F-4A82-0BDB-9DC7-A9B3F0255C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1171" y="94550"/>
              <a:ext cx="957942" cy="85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43BB8DA9-440F-8D50-53F9-40B6DFDB7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685" y="58866"/>
            <a:ext cx="1886213" cy="600159"/>
          </a:xfrm>
          <a:prstGeom prst="rect">
            <a:avLst/>
          </a:prstGeom>
        </p:spPr>
      </p:pic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8134543A-75C7-0E73-66EA-1561D4D62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1344" y="6476546"/>
            <a:ext cx="6494440" cy="244929"/>
          </a:xfrm>
        </p:spPr>
        <p:txBody>
          <a:bodyPr/>
          <a:lstStyle/>
          <a:p>
            <a:r>
              <a:rPr lang="en-US" dirty="0"/>
              <a:t>2026 International Conference on Data Science, Agents, and Artificial Intelligence (ICDSAAI 2026)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5CE1A69-8752-D882-C50A-4EA4680D1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707064"/>
              </p:ext>
            </p:extLst>
          </p:nvPr>
        </p:nvGraphicFramePr>
        <p:xfrm>
          <a:off x="2589652" y="3705122"/>
          <a:ext cx="4572000" cy="2514128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748768">
                  <a:extLst>
                    <a:ext uri="{9D8B030D-6E8A-4147-A177-3AD203B41FA5}">
                      <a16:colId xmlns:a16="http://schemas.microsoft.com/office/drawing/2014/main" val="1858107058"/>
                    </a:ext>
                  </a:extLst>
                </a:gridCol>
                <a:gridCol w="1016749">
                  <a:extLst>
                    <a:ext uri="{9D8B030D-6E8A-4147-A177-3AD203B41FA5}">
                      <a16:colId xmlns:a16="http://schemas.microsoft.com/office/drawing/2014/main" val="1257534228"/>
                    </a:ext>
                  </a:extLst>
                </a:gridCol>
                <a:gridCol w="997509">
                  <a:extLst>
                    <a:ext uri="{9D8B030D-6E8A-4147-A177-3AD203B41FA5}">
                      <a16:colId xmlns:a16="http://schemas.microsoft.com/office/drawing/2014/main" val="1223426331"/>
                    </a:ext>
                  </a:extLst>
                </a:gridCol>
                <a:gridCol w="808974">
                  <a:extLst>
                    <a:ext uri="{9D8B030D-6E8A-4147-A177-3AD203B41FA5}">
                      <a16:colId xmlns:a16="http://schemas.microsoft.com/office/drawing/2014/main" val="3187403374"/>
                    </a:ext>
                  </a:extLst>
                </a:gridCol>
              </a:tblGrid>
              <a:tr h="293796">
                <a:tc>
                  <a:txBody>
                    <a:bodyPr/>
                    <a:lstStyle/>
                    <a:p>
                      <a:pPr marL="86995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b="1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b="1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YOLOv5n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b="1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YOLOv5s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b="1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YOLOv5m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719141"/>
                  </a:ext>
                </a:extLst>
              </a:tr>
              <a:tr h="268123">
                <a:tc>
                  <a:txBody>
                    <a:bodyPr/>
                    <a:lstStyle/>
                    <a:p>
                      <a:pPr marL="86995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b="1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0.92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749164"/>
                  </a:ext>
                </a:extLst>
              </a:tr>
              <a:tr h="293796">
                <a:tc>
                  <a:txBody>
                    <a:bodyPr/>
                    <a:lstStyle/>
                    <a:p>
                      <a:pPr marL="86995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b="1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0.91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395550"/>
                  </a:ext>
                </a:extLst>
              </a:tr>
              <a:tr h="293796">
                <a:tc>
                  <a:txBody>
                    <a:bodyPr/>
                    <a:lstStyle/>
                    <a:p>
                      <a:pPr marL="86995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b="1" u="none" strike="noStrike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mAP@0.5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0.995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0.997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0.998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540506"/>
                  </a:ext>
                </a:extLst>
              </a:tr>
              <a:tr h="293796">
                <a:tc>
                  <a:txBody>
                    <a:bodyPr/>
                    <a:lstStyle/>
                    <a:p>
                      <a:pPr marL="86995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b="1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mAP@0.5:0.95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0.78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355665"/>
                  </a:ext>
                </a:extLst>
              </a:tr>
              <a:tr h="293796">
                <a:tc>
                  <a:txBody>
                    <a:bodyPr/>
                    <a:lstStyle/>
                    <a:p>
                      <a:pPr marL="86995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F1-</a:t>
                      </a:r>
                      <a:r>
                        <a:rPr lang="en-US" sz="1200" b="1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Score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0.91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711007"/>
                  </a:ext>
                </a:extLst>
              </a:tr>
              <a:tr h="334619">
                <a:tc>
                  <a:txBody>
                    <a:bodyPr/>
                    <a:lstStyle/>
                    <a:p>
                      <a:pPr marL="86995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  <a:r>
                        <a:rPr lang="en-US" sz="1200" b="1" spc="13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  <a:r>
                        <a:rPr lang="en-US" sz="1200" b="1" spc="13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in </a:t>
                      </a:r>
                      <a:r>
                        <a:rPr lang="en-US" sz="1200" b="1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(ms)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237206"/>
                  </a:ext>
                </a:extLst>
              </a:tr>
              <a:tr h="319467">
                <a:tc>
                  <a:txBody>
                    <a:bodyPr/>
                    <a:lstStyle/>
                    <a:p>
                      <a:pPr marL="86995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r>
                        <a:rPr lang="en-US" sz="1200" b="1" spc="13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r>
                        <a:rPr lang="en-US" sz="1200" b="1" spc="13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(MB)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200000"/>
                        </a:lnSpc>
                        <a:buNone/>
                      </a:pPr>
                      <a:r>
                        <a:rPr lang="en-US" sz="1200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956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009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74681-D44B-CCD4-A9BB-87233319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FDAE-22A8-12B6-55B4-99E7ADB7A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85" y="940000"/>
            <a:ext cx="8229600" cy="606711"/>
          </a:xfrm>
        </p:spPr>
        <p:txBody>
          <a:bodyPr>
            <a:normAutofit fontScale="90000"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FA011-AF31-4345-CBA3-95064979B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6" y="2085707"/>
            <a:ext cx="8677274" cy="26865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Insights from the Results</a:t>
            </a:r>
          </a:p>
          <a:p>
            <a:pPr marL="0" indent="0">
              <a:buNone/>
            </a:pPr>
            <a:endParaRPr lang="en-US" sz="1300" b="1" dirty="0"/>
          </a:p>
          <a:p>
            <a:pPr marL="0" indent="0" algn="just">
              <a:buNone/>
            </a:pPr>
            <a:r>
              <a:rPr lang="en-US" sz="2100" dirty="0"/>
              <a:t>• The model successfully detected currency notes under different lighting conditions and backgrounds.</a:t>
            </a:r>
          </a:p>
          <a:p>
            <a:pPr marL="0" indent="0" algn="just">
              <a:buNone/>
            </a:pPr>
            <a:r>
              <a:rPr lang="en-US" sz="2100" dirty="0"/>
              <a:t>• Precision–Recall curves and confusion matrix show strong classification performance across denominations.</a:t>
            </a:r>
          </a:p>
          <a:p>
            <a:pPr marL="0" indent="0" algn="just">
              <a:buNone/>
            </a:pPr>
            <a:r>
              <a:rPr lang="en-US" sz="2100" dirty="0"/>
              <a:t>• Integration of object detection with audio feedback improves accessibility for visually impaired users.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7BB0C9-1E8A-F339-D531-391EA6432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0F728E8D-9773-84B7-3C14-E82612F02ABE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4768472-5D09-1C8B-F020-43E204D18327}"/>
              </a:ext>
            </a:extLst>
          </p:cNvPr>
          <p:cNvGrpSpPr/>
          <p:nvPr/>
        </p:nvGrpSpPr>
        <p:grpSpPr>
          <a:xfrm>
            <a:off x="8115299" y="45991"/>
            <a:ext cx="968829" cy="854747"/>
            <a:chOff x="8151171" y="94550"/>
            <a:chExt cx="968829" cy="8547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27C4F4-47A8-95B7-F47E-0C1E40994398}"/>
                </a:ext>
              </a:extLst>
            </p:cNvPr>
            <p:cNvSpPr/>
            <p:nvPr/>
          </p:nvSpPr>
          <p:spPr>
            <a:xfrm>
              <a:off x="8151171" y="94550"/>
              <a:ext cx="968829" cy="85474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9" name="Picture 2" descr="Your profile picture">
              <a:extLst>
                <a:ext uri="{FF2B5EF4-FFF2-40B4-BE49-F238E27FC236}">
                  <a16:creationId xmlns:a16="http://schemas.microsoft.com/office/drawing/2014/main" id="{336E5FDC-2C20-1A3C-6D01-7963B76DAE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1171" y="94550"/>
              <a:ext cx="957942" cy="85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735CD39-2EA5-3E43-5386-DEA821E89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685" y="58866"/>
            <a:ext cx="1886213" cy="600159"/>
          </a:xfrm>
          <a:prstGeom prst="rect">
            <a:avLst/>
          </a:prstGeom>
        </p:spPr>
      </p:pic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10D07EB6-AC3C-A283-D239-E2F2ECCF0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1344" y="6476546"/>
            <a:ext cx="6494440" cy="244929"/>
          </a:xfrm>
        </p:spPr>
        <p:txBody>
          <a:bodyPr/>
          <a:lstStyle/>
          <a:p>
            <a:r>
              <a:rPr lang="en-US" dirty="0"/>
              <a:t>2026 International Conference on Data Science, Agents, and Artificial Intelligence (ICDSAAI 2026)</a:t>
            </a:r>
          </a:p>
        </p:txBody>
      </p:sp>
    </p:spTree>
    <p:extLst>
      <p:ext uri="{BB962C8B-B14F-4D97-AF65-F5344CB8AC3E}">
        <p14:creationId xmlns:p14="http://schemas.microsoft.com/office/powerpoint/2010/main" val="694732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922679"/>
            <a:ext cx="8229600" cy="457199"/>
          </a:xfrm>
        </p:spPr>
        <p:txBody>
          <a:bodyPr>
            <a:noAutofit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075" y="2119200"/>
            <a:ext cx="8686799" cy="316717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800" b="1" dirty="0"/>
              <a:t>Summary of Contributions</a:t>
            </a:r>
          </a:p>
          <a:p>
            <a:pPr marL="0" indent="0" algn="just">
              <a:buNone/>
            </a:pPr>
            <a:endParaRPr lang="en-US" sz="1400" b="1" dirty="0"/>
          </a:p>
          <a:p>
            <a:pPr algn="just"/>
            <a:r>
              <a:rPr lang="en-US" sz="1800" dirty="0"/>
              <a:t>Developed a real-time Indian currency identification system using a lightweight YOLOv5 Nano object detection model.</a:t>
            </a:r>
          </a:p>
          <a:p>
            <a:pPr algn="just"/>
            <a:r>
              <a:rPr lang="en-US" sz="1800" dirty="0"/>
              <a:t>The system accurately detects and classifies different currency denominations from live camera input.</a:t>
            </a:r>
          </a:p>
          <a:p>
            <a:pPr algn="just"/>
            <a:r>
              <a:rPr lang="en-US" sz="1800" dirty="0"/>
              <a:t>Achieved high detection performance with mAP@0.5 of 0.995 while maintaining low inference latency (15 ms).</a:t>
            </a:r>
          </a:p>
          <a:p>
            <a:pPr algn="just"/>
            <a:r>
              <a:rPr lang="en-US" sz="1800" dirty="0"/>
              <a:t>Integrated audio feedback to assist visually impaired users in recognizing currency independently.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F4A09-2201-72D2-1755-2EF406F3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BBA2957B-2A06-E1D9-4CD7-BDDF4FBD747F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C83395A-64FD-C487-79D0-D2C53AEB719E}"/>
              </a:ext>
            </a:extLst>
          </p:cNvPr>
          <p:cNvGrpSpPr/>
          <p:nvPr/>
        </p:nvGrpSpPr>
        <p:grpSpPr>
          <a:xfrm>
            <a:off x="8115299" y="45991"/>
            <a:ext cx="968829" cy="854747"/>
            <a:chOff x="8151171" y="94550"/>
            <a:chExt cx="968829" cy="8547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7A50498-D10F-DF06-C8F3-FE3D8723C5E6}"/>
                </a:ext>
              </a:extLst>
            </p:cNvPr>
            <p:cNvSpPr/>
            <p:nvPr/>
          </p:nvSpPr>
          <p:spPr>
            <a:xfrm>
              <a:off x="8151171" y="94550"/>
              <a:ext cx="968829" cy="85474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9" name="Picture 2" descr="Your profile picture">
              <a:extLst>
                <a:ext uri="{FF2B5EF4-FFF2-40B4-BE49-F238E27FC236}">
                  <a16:creationId xmlns:a16="http://schemas.microsoft.com/office/drawing/2014/main" id="{FD3EF0F8-452C-F671-4C83-730997706B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1171" y="94550"/>
              <a:ext cx="957942" cy="85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C6C742E-7E5C-E00A-A9CA-880C9A948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378" y="76745"/>
            <a:ext cx="1886213" cy="600159"/>
          </a:xfrm>
          <a:prstGeom prst="rect">
            <a:avLst/>
          </a:prstGeom>
        </p:spPr>
      </p:pic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EA2EFDEF-6B48-D89C-416A-D61B7AC19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1344" y="6476546"/>
            <a:ext cx="6494440" cy="244929"/>
          </a:xfrm>
        </p:spPr>
        <p:txBody>
          <a:bodyPr/>
          <a:lstStyle/>
          <a:p>
            <a:r>
              <a:rPr lang="en-US" dirty="0"/>
              <a:t>2026 International Conference on Data Science, Agents, and Artificial Intelligence (ICDSAAI 2026)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5036F-8EDD-7BB3-448F-7CFA353CF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913F-5AFF-1597-CD54-D70140E61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764" y="965374"/>
            <a:ext cx="8229600" cy="457199"/>
          </a:xfrm>
        </p:spPr>
        <p:txBody>
          <a:bodyPr>
            <a:noAutofit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677A7-0E80-E376-18A0-9C0966D2D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49" y="1749142"/>
            <a:ext cx="8734425" cy="447992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5900" b="1" dirty="0"/>
              <a:t>Limitations</a:t>
            </a:r>
          </a:p>
          <a:p>
            <a:pPr marL="0" indent="0">
              <a:buNone/>
            </a:pPr>
            <a:endParaRPr lang="en-US" sz="2400" b="1" dirty="0"/>
          </a:p>
          <a:p>
            <a:pPr algn="just"/>
            <a:r>
              <a:rPr lang="en-US" sz="4200" dirty="0"/>
              <a:t>The system was trained on a limited dataset of Indian currency images.</a:t>
            </a:r>
          </a:p>
          <a:p>
            <a:pPr algn="just"/>
            <a:r>
              <a:rPr lang="en-US" sz="4200" dirty="0"/>
              <a:t>Detection performance may be affected by severely damaged, folded, or highly worn currency notes.</a:t>
            </a:r>
          </a:p>
          <a:p>
            <a:pPr algn="just"/>
            <a:r>
              <a:rPr lang="en-US" sz="4200" dirty="0"/>
              <a:t>The system currently supports only Indian currency denominations.</a:t>
            </a:r>
            <a:endParaRPr lang="en-US" sz="4200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5900" b="1" dirty="0"/>
              <a:t>Future Research Directions</a:t>
            </a:r>
          </a:p>
          <a:p>
            <a:pPr marL="0" indent="0">
              <a:buNone/>
            </a:pPr>
            <a:endParaRPr lang="en-US" sz="2300" b="1" dirty="0"/>
          </a:p>
          <a:p>
            <a:pPr algn="just"/>
            <a:r>
              <a:rPr lang="en-US" sz="4200" dirty="0"/>
              <a:t>Expand the dataset with more currency images and additional denominations.</a:t>
            </a:r>
          </a:p>
          <a:p>
            <a:pPr algn="just"/>
            <a:r>
              <a:rPr lang="en-US" sz="4200" dirty="0"/>
              <a:t>Extend the system to support multiple international currencies.</a:t>
            </a:r>
          </a:p>
          <a:p>
            <a:pPr algn="just"/>
            <a:r>
              <a:rPr lang="en-US" sz="4200" dirty="0"/>
              <a:t>Deploy the system on mobile devices or embedded platforms for real-world usage.</a:t>
            </a:r>
          </a:p>
          <a:p>
            <a:pPr algn="just"/>
            <a:r>
              <a:rPr lang="en-US" sz="4200" dirty="0"/>
              <a:t>Integrate multilingual text-to-speech support for better accessibility.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8FAE0C-FDEC-2E0B-FE5E-693FCED1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F5D5463E-7BBF-959D-DDFD-743F9091E72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6791F5B-6F96-A0BF-F7F1-C000F1F30C74}"/>
              </a:ext>
            </a:extLst>
          </p:cNvPr>
          <p:cNvGrpSpPr/>
          <p:nvPr/>
        </p:nvGrpSpPr>
        <p:grpSpPr>
          <a:xfrm>
            <a:off x="8115299" y="45991"/>
            <a:ext cx="968829" cy="854747"/>
            <a:chOff x="8151171" y="94550"/>
            <a:chExt cx="968829" cy="8547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1971058-2776-BB2A-4143-4D3D3769234F}"/>
                </a:ext>
              </a:extLst>
            </p:cNvPr>
            <p:cNvSpPr/>
            <p:nvPr/>
          </p:nvSpPr>
          <p:spPr>
            <a:xfrm>
              <a:off x="8151171" y="94550"/>
              <a:ext cx="968829" cy="85474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9" name="Picture 2" descr="Your profile picture">
              <a:extLst>
                <a:ext uri="{FF2B5EF4-FFF2-40B4-BE49-F238E27FC236}">
                  <a16:creationId xmlns:a16="http://schemas.microsoft.com/office/drawing/2014/main" id="{14BBCEF5-F502-A8DE-23E3-B47003E6B7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1171" y="94550"/>
              <a:ext cx="957942" cy="85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BCFD457-8FF0-31BD-8104-1CFA5AFF0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378" y="76745"/>
            <a:ext cx="1886213" cy="600159"/>
          </a:xfrm>
          <a:prstGeom prst="rect">
            <a:avLst/>
          </a:prstGeom>
        </p:spPr>
      </p:pic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E3189594-17A1-5533-855B-68DB2A7C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1344" y="6476546"/>
            <a:ext cx="6494440" cy="244929"/>
          </a:xfrm>
        </p:spPr>
        <p:txBody>
          <a:bodyPr/>
          <a:lstStyle/>
          <a:p>
            <a:r>
              <a:rPr lang="en-US" dirty="0"/>
              <a:t>2026 International Conference on Data Science, Agents, and Artificial Intelligence (ICDSAAI 2026)</a:t>
            </a:r>
          </a:p>
        </p:txBody>
      </p:sp>
    </p:spTree>
    <p:extLst>
      <p:ext uri="{BB962C8B-B14F-4D97-AF65-F5344CB8AC3E}">
        <p14:creationId xmlns:p14="http://schemas.microsoft.com/office/powerpoint/2010/main" val="4037359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404" y="900738"/>
            <a:ext cx="8229600" cy="573661"/>
          </a:xfrm>
        </p:spPr>
        <p:txBody>
          <a:bodyPr>
            <a:noAutofit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78D40-C64A-CC2D-0015-67ABE9DA0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F4F19D68-2656-891D-8DBF-F21393CCB970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29197A1-A71C-BDD5-C13B-4292D3CDFCDA}"/>
              </a:ext>
            </a:extLst>
          </p:cNvPr>
          <p:cNvGrpSpPr/>
          <p:nvPr/>
        </p:nvGrpSpPr>
        <p:grpSpPr>
          <a:xfrm>
            <a:off x="8115299" y="45991"/>
            <a:ext cx="968829" cy="854747"/>
            <a:chOff x="8151171" y="94550"/>
            <a:chExt cx="968829" cy="8547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CF3C718-AD39-643A-B0FC-AEB6BDD4D21A}"/>
                </a:ext>
              </a:extLst>
            </p:cNvPr>
            <p:cNvSpPr/>
            <p:nvPr/>
          </p:nvSpPr>
          <p:spPr>
            <a:xfrm>
              <a:off x="8151171" y="94550"/>
              <a:ext cx="968829" cy="85474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9" name="Picture 2" descr="Your profile picture">
              <a:extLst>
                <a:ext uri="{FF2B5EF4-FFF2-40B4-BE49-F238E27FC236}">
                  <a16:creationId xmlns:a16="http://schemas.microsoft.com/office/drawing/2014/main" id="{97BB8902-2A88-0B45-B530-18BB21381C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1171" y="94550"/>
              <a:ext cx="957942" cy="85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159C68D-8758-0B31-3D4A-804F0024D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378" y="76745"/>
            <a:ext cx="1886213" cy="600159"/>
          </a:xfrm>
          <a:prstGeom prst="rect">
            <a:avLst/>
          </a:prstGeom>
        </p:spPr>
      </p:pic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4D8D4EF1-E652-9C04-41B7-C49D5FA6C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1344" y="6476546"/>
            <a:ext cx="6494440" cy="244929"/>
          </a:xfrm>
        </p:spPr>
        <p:txBody>
          <a:bodyPr/>
          <a:lstStyle/>
          <a:p>
            <a:r>
              <a:rPr lang="en-US" dirty="0"/>
              <a:t>2026 International Conference on Data Science, Agents, and Artificial Intelligence (ICDSAAI 2026)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8A8664D1-5C3C-F8A7-A543-C44FC92A2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" y="1645911"/>
            <a:ext cx="8753475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1600" b="1" dirty="0"/>
              <a:t>[1] </a:t>
            </a:r>
            <a:r>
              <a:rPr lang="en-IN" sz="1600" dirty="0"/>
              <a:t>S. A. Shreya, M. A. I. Siddique, and S. Tasnim, “Real-time currency detection and voice feedback for visually impaired </a:t>
            </a:r>
            <a:r>
              <a:rPr lang="en-IN" sz="1600" dirty="0" err="1"/>
              <a:t>individuals,”arXiv</a:t>
            </a:r>
            <a:r>
              <a:rPr lang="en-IN" sz="1600" dirty="0"/>
              <a:t> preprint, 2025.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[2] </a:t>
            </a:r>
            <a:r>
              <a:rPr lang="en-IN" sz="1600" dirty="0"/>
              <a:t>U. Kadam et al., “Currency detection for visually impaired people using edge devices,” in Proc. Int. Conf. on Modeling, Simulation &amp; Intelligent Computing (MoSICom), Dubai, UAE, 2023, pp. 498–503. </a:t>
            </a:r>
          </a:p>
          <a:p>
            <a:pPr algn="just"/>
            <a:r>
              <a:rPr lang="en-IN" sz="1600" dirty="0"/>
              <a:t>DOI:  https://doi.org/10.1109/MoSICom59118.2023.10458734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[3] </a:t>
            </a:r>
            <a:r>
              <a:rPr lang="en-IN" sz="1600" dirty="0"/>
              <a:t>N. Rathore et al.,“Indian currency recognition for visually impaired individuals,” in Proc. 14th Int. Conf.on Computing, Communication and Networking Technologies(ICCCNT), Delhi, India, 2023, pp.1–7.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[4] </a:t>
            </a:r>
            <a:r>
              <a:rPr lang="en-IN" sz="1600" dirty="0"/>
              <a:t>R. Gupta, A. Gupta, A. Chauhan, G. Bisht, and V. Tripathi, “Currency detection application for visually impaired using </a:t>
            </a:r>
            <a:r>
              <a:rPr lang="en-IN" sz="1600" dirty="0" err="1"/>
              <a:t>CNN,”in</a:t>
            </a:r>
            <a:r>
              <a:rPr lang="en-IN" sz="1600" dirty="0"/>
              <a:t> Proc. IEEE Int. Conf. on Computer Vision and Machine Intelligence(CVMI),2023,pp. 1–7. </a:t>
            </a:r>
          </a:p>
          <a:p>
            <a:pPr algn="just"/>
            <a:r>
              <a:rPr lang="en-IN" sz="1600" dirty="0"/>
              <a:t>DOI:  https://doi.org/10.1109/CVMI59935.2023.10464729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[5] </a:t>
            </a:r>
            <a:r>
              <a:rPr lang="en-IN" sz="1600" dirty="0"/>
              <a:t>V. Agustin et al., “Money identifier: An android-based application for visually impaired people using object detection,” International Journal of Advanced Trends in Computer Science and Engineering, vol. 11, no. 3, pp. 108–116, 2022. </a:t>
            </a:r>
          </a:p>
          <a:p>
            <a:pPr algn="just"/>
            <a:r>
              <a:rPr lang="en-IN" sz="1600" dirty="0"/>
              <a:t>DOI: https://doi.org/10.30534/ijatcse/2022/061132022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478" y="963506"/>
            <a:ext cx="8229600" cy="672813"/>
          </a:xfrm>
        </p:spPr>
        <p:txBody>
          <a:bodyPr>
            <a:normAutofit/>
          </a:bodyPr>
          <a:lstStyle/>
          <a:p>
            <a:r>
              <a:rPr sz="3600" b="1" dirty="0">
                <a:solidFill>
                  <a:schemeClr val="tx2"/>
                </a:solidFill>
              </a:rPr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975" y="2215922"/>
            <a:ext cx="8693949" cy="241322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400" dirty="0"/>
              <a:t>We sincerely acknowledge </a:t>
            </a:r>
            <a:r>
              <a:rPr lang="en-US" sz="2400" b="1" dirty="0"/>
              <a:t>Dr. M. Chandralekha</a:t>
            </a:r>
            <a:r>
              <a:rPr lang="en-US" sz="2400" dirty="0"/>
              <a:t> for her guidance and valuable suggestions throughout this work.</a:t>
            </a:r>
          </a:p>
          <a:p>
            <a:pPr algn="just"/>
            <a:r>
              <a:rPr lang="en-US" sz="2400" dirty="0"/>
              <a:t>We express our gratitude to </a:t>
            </a:r>
            <a:r>
              <a:rPr lang="en-US" sz="2400" b="1" dirty="0"/>
              <a:t>Amrita Vishwa Vidyapeetham, Department of Computer Science and Engineering</a:t>
            </a:r>
            <a:r>
              <a:rPr lang="en-US" sz="2400" dirty="0"/>
              <a:t>, for providing the necessary support and resources.</a:t>
            </a:r>
          </a:p>
          <a:p>
            <a:pPr algn="just"/>
            <a:r>
              <a:rPr lang="en-US" sz="2400" dirty="0"/>
              <a:t>We appreciate the organizers of </a:t>
            </a:r>
            <a:r>
              <a:rPr lang="en-US" sz="2400" b="1" dirty="0"/>
              <a:t>ICDSAAI 2026</a:t>
            </a:r>
            <a:r>
              <a:rPr lang="en-US" sz="2400" dirty="0"/>
              <a:t> for providing the platform to present our work.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7681C-003A-4D15-39EE-65E4D7F24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C0022341-C485-B325-908E-285984AF9C47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5839AFD-4434-A5D0-6789-BE0E8F5986D7}"/>
              </a:ext>
            </a:extLst>
          </p:cNvPr>
          <p:cNvGrpSpPr/>
          <p:nvPr/>
        </p:nvGrpSpPr>
        <p:grpSpPr>
          <a:xfrm>
            <a:off x="8115299" y="45991"/>
            <a:ext cx="968829" cy="854747"/>
            <a:chOff x="8151171" y="94550"/>
            <a:chExt cx="968829" cy="8547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587B0A7-1C97-429C-038F-49F8E84D69B9}"/>
                </a:ext>
              </a:extLst>
            </p:cNvPr>
            <p:cNvSpPr/>
            <p:nvPr/>
          </p:nvSpPr>
          <p:spPr>
            <a:xfrm>
              <a:off x="8151171" y="94550"/>
              <a:ext cx="968829" cy="85474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9" name="Picture 2" descr="Your profile picture">
              <a:extLst>
                <a:ext uri="{FF2B5EF4-FFF2-40B4-BE49-F238E27FC236}">
                  <a16:creationId xmlns:a16="http://schemas.microsoft.com/office/drawing/2014/main" id="{3131957F-7BFA-BD03-0D95-469047BD06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1171" y="94550"/>
              <a:ext cx="957942" cy="85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80CADCC-5291-4EBD-025E-3945E21F2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378" y="76745"/>
            <a:ext cx="1886213" cy="600159"/>
          </a:xfrm>
          <a:prstGeom prst="rect">
            <a:avLst/>
          </a:prstGeom>
        </p:spPr>
      </p:pic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CC6F1525-32C0-1F19-A13A-B33D529B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1344" y="6476546"/>
            <a:ext cx="6494440" cy="244929"/>
          </a:xfrm>
        </p:spPr>
        <p:txBody>
          <a:bodyPr/>
          <a:lstStyle/>
          <a:p>
            <a:r>
              <a:rPr lang="en-US" dirty="0"/>
              <a:t>2026 International Conference on Data Science, Agents, and Artificial Intelligence (ICDSAAI 2026)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27981"/>
            <a:ext cx="8229600" cy="639762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</a:rP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20887"/>
            <a:ext cx="8229600" cy="762000"/>
          </a:xfrm>
        </p:spPr>
        <p:txBody>
          <a:bodyPr/>
          <a:lstStyle/>
          <a:p>
            <a:pPr marL="0" indent="0" algn="ctr">
              <a:buNone/>
            </a:pPr>
            <a:r>
              <a:rPr b="1" dirty="0"/>
              <a:t>Thank you!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4A68D-670E-7BA5-4386-5B7A5B48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70EB3167-A72E-E7A0-2BF2-F6BB9CD751B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819A009-F077-5BDC-BA99-CDA20A4B0050}"/>
              </a:ext>
            </a:extLst>
          </p:cNvPr>
          <p:cNvGrpSpPr/>
          <p:nvPr/>
        </p:nvGrpSpPr>
        <p:grpSpPr>
          <a:xfrm>
            <a:off x="8115299" y="45991"/>
            <a:ext cx="968829" cy="854747"/>
            <a:chOff x="8151171" y="94550"/>
            <a:chExt cx="968829" cy="8547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694D3B1-537F-EC82-F8F9-1CED7FA9BB2A}"/>
                </a:ext>
              </a:extLst>
            </p:cNvPr>
            <p:cNvSpPr/>
            <p:nvPr/>
          </p:nvSpPr>
          <p:spPr>
            <a:xfrm>
              <a:off x="8151171" y="94550"/>
              <a:ext cx="968829" cy="85474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9" name="Picture 2" descr="Your profile picture">
              <a:extLst>
                <a:ext uri="{FF2B5EF4-FFF2-40B4-BE49-F238E27FC236}">
                  <a16:creationId xmlns:a16="http://schemas.microsoft.com/office/drawing/2014/main" id="{7900FB84-F4A1-58BA-6BBC-23913FD978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1171" y="94550"/>
              <a:ext cx="957942" cy="85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FF226B8A-C91D-B9E7-128A-449FA8A3F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378" y="76745"/>
            <a:ext cx="1886213" cy="600159"/>
          </a:xfrm>
          <a:prstGeom prst="rect">
            <a:avLst/>
          </a:prstGeom>
        </p:spPr>
      </p:pic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54EAFE3F-6D62-94DD-3B74-E6ED86A14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1344" y="6476546"/>
            <a:ext cx="6494440" cy="244929"/>
          </a:xfrm>
        </p:spPr>
        <p:txBody>
          <a:bodyPr/>
          <a:lstStyle/>
          <a:p>
            <a:r>
              <a:rPr lang="en-US" dirty="0"/>
              <a:t>2026 International Conference on Data Science, Agents, and Artificial Intelligence (ICDSAAI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1545</Words>
  <Application>Microsoft Office PowerPoint</Application>
  <PresentationFormat>On-screen Show (4:3)</PresentationFormat>
  <Paragraphs>203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Cambria</vt:lpstr>
      <vt:lpstr>MV Boli</vt:lpstr>
      <vt:lpstr>Times New Roman</vt:lpstr>
      <vt:lpstr>Office Theme</vt:lpstr>
      <vt:lpstr>2026 International Conference on Data Science, Agents, and Artificial Intelligence (ICDSAAI 2026)</vt:lpstr>
      <vt:lpstr>Introduction</vt:lpstr>
      <vt:lpstr>Literature Review</vt:lpstr>
      <vt:lpstr>Research Objectives</vt:lpstr>
      <vt:lpstr>Methodology</vt:lpstr>
      <vt:lpstr>Methodology</vt:lpstr>
      <vt:lpstr>Implementation Details</vt:lpstr>
      <vt:lpstr>Implementation Details</vt:lpstr>
      <vt:lpstr>Results and Discussion</vt:lpstr>
      <vt:lpstr>Results and Discussion</vt:lpstr>
      <vt:lpstr>Results and Discussion</vt:lpstr>
      <vt:lpstr>Conclusion &amp; Future Work</vt:lpstr>
      <vt:lpstr>Conclusion &amp; Future Work</vt:lpstr>
      <vt:lpstr>References</vt:lpstr>
      <vt:lpstr>Acknowledgments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talasila balaji</cp:lastModifiedBy>
  <cp:revision>28</cp:revision>
  <dcterms:created xsi:type="dcterms:W3CDTF">2013-01-27T09:14:16Z</dcterms:created>
  <dcterms:modified xsi:type="dcterms:W3CDTF">2026-03-20T17:00:23Z</dcterms:modified>
  <cp:category/>
</cp:coreProperties>
</file>